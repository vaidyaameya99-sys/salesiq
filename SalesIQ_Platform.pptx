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1371600"/>
            <a:ext cx="8686800" cy="4114800"/>
          </a:xfrm>
          <a:prstGeom prst="rect">
            <a:avLst/>
          </a:prstGeom>
          <a:solidFill>
            <a:srgbClr val="00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B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320040"/>
            <a:ext cx="502920" cy="502920"/>
          </a:xfrm>
          <a:prstGeom prst="rect">
            <a:avLst/>
          </a:prstGeom>
          <a:solidFill>
            <a:srgbClr val="00B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017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F1A"/>
                </a:solidFill>
              </a:rPr>
              <a:t>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SalesIQ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6304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AI Sales Intelligence &amp;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0D4FF"/>
                </a:solidFill>
              </a:rPr>
              <a:t>Coaching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37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AI-Powered Analysis Pipeline · Real-Time Progress · PDF Reports · One-Click Deploy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4206240"/>
            <a:ext cx="2743200" cy="594360"/>
          </a:xfrm>
          <a:prstGeom prst="rect">
            <a:avLst/>
          </a:prstGeom>
          <a:solidFill>
            <a:srgbClr val="00B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2062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0F1A"/>
                </a:solidFill>
              </a:rPr>
              <a:t>Analyze Your First Call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5303520"/>
            <a:ext cx="2194560" cy="1188720"/>
          </a:xfrm>
          <a:prstGeom prst="rect">
            <a:avLst/>
          </a:prstGeom>
          <a:solidFill>
            <a:srgbClr val="151F38"/>
          </a:solidFill>
          <a:ln w="6350">
            <a:solidFill>
              <a:srgbClr val="1C2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349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D4FF"/>
                </a:solidFill>
              </a:rPr>
              <a:t>247+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897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Calls Analyzed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5303520"/>
            <a:ext cx="2194560" cy="1188720"/>
          </a:xfrm>
          <a:prstGeom prst="rect">
            <a:avLst/>
          </a:prstGeom>
          <a:solidFill>
            <a:srgbClr val="151F38"/>
          </a:solidFill>
          <a:ln w="6350">
            <a:solidFill>
              <a:srgbClr val="1C2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5349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D4FF"/>
                </a:solidFill>
              </a:rPr>
              <a:t>1,840+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897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Insights Generated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5303520"/>
            <a:ext cx="2194560" cy="1188720"/>
          </a:xfrm>
          <a:prstGeom prst="rect">
            <a:avLst/>
          </a:prstGeom>
          <a:solidFill>
            <a:srgbClr val="151F38"/>
          </a:solidFill>
          <a:ln w="6350">
            <a:solidFill>
              <a:srgbClr val="1C2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5349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D4FF"/>
                </a:solidFill>
              </a:rPr>
              <a:t>94%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897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Rep Improvement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00B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Hundreds of recorded calls.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F4444"/>
                </a:solidFill>
              </a:rPr>
              <a:t>Zero actionable insights.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68880"/>
            <a:ext cx="5303520" cy="1554480"/>
          </a:xfrm>
          <a:prstGeom prst="rect">
            <a:avLst/>
          </a:prstGeom>
          <a:solidFill>
            <a:srgbClr val="151F38"/>
          </a:solidFill>
          <a:ln w="6350">
            <a:solidFill>
              <a:srgbClr val="1C2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468880"/>
            <a:ext cx="73152" cy="1554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7889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65176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No Time to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06324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Hours of recordings sit unwatched because no one has bandwidth to manually audit calls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2468880"/>
            <a:ext cx="5303520" cy="1554480"/>
          </a:xfrm>
          <a:prstGeom prst="rect">
            <a:avLst/>
          </a:prstGeom>
          <a:solidFill>
            <a:srgbClr val="151F38"/>
          </a:solidFill>
          <a:ln w="6350">
            <a:solidFill>
              <a:srgbClr val="1C2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2468880"/>
            <a:ext cx="73152" cy="1554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27889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79" y="265176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Same Mistakes Repeat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79" y="306324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Reps re-approach prospects making identical errors with no coaching between attempts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206240"/>
            <a:ext cx="5303520" cy="1554480"/>
          </a:xfrm>
          <a:prstGeom prst="rect">
            <a:avLst/>
          </a:prstGeom>
          <a:solidFill>
            <a:srgbClr val="151F38"/>
          </a:solidFill>
          <a:ln w="6350">
            <a:solidFill>
              <a:srgbClr val="1C2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206240"/>
            <a:ext cx="73152" cy="1554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5262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38912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Gut-Feel Coaching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80060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Managers coach based on hunches, not data from actual conversations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4206240"/>
            <a:ext cx="5303520" cy="1554480"/>
          </a:xfrm>
          <a:prstGeom prst="rect">
            <a:avLst/>
          </a:prstGeom>
          <a:solidFill>
            <a:srgbClr val="151F38"/>
          </a:solidFill>
          <a:ln w="6350">
            <a:solidFill>
              <a:srgbClr val="1C2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92240" y="4206240"/>
            <a:ext cx="73152" cy="1554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45262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79" y="438912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Lost Deals Stay Lost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79" y="480060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No structured process to learn from lost deals before the next contact attempt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B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3B3"/>
                </a:solidFill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SalesIQ: Upload a call. Get a full AI diagnosis.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103120" cy="4297680"/>
          </a:xfrm>
          <a:prstGeom prst="rect">
            <a:avLst/>
          </a:prstGeom>
          <a:solidFill>
            <a:srgbClr val="151F38"/>
          </a:solidFill>
          <a:ln w="6350">
            <a:solidFill>
              <a:srgbClr val="1C2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65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23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Audio (.mp3/.wav/.m4a) or text transcript (.txt/.pdf). Drag &amp; drop.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210312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28803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1828800"/>
            <a:ext cx="2103120" cy="4297680"/>
          </a:xfrm>
          <a:prstGeom prst="rect">
            <a:avLst/>
          </a:prstGeom>
          <a:solidFill>
            <a:srgbClr val="151F38"/>
          </a:solidFill>
          <a:ln w="6350">
            <a:solidFill>
              <a:srgbClr val="1C2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965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B5CF6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423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ANALYZE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8346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AI-powered pipeline runs sequentially in real-time. Watch each step execute.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88920" y="1828800"/>
            <a:ext cx="210312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28803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1828800"/>
            <a:ext cx="2103120" cy="4297680"/>
          </a:xfrm>
          <a:prstGeom prst="rect">
            <a:avLst/>
          </a:prstGeom>
          <a:solidFill>
            <a:srgbClr val="151F38"/>
          </a:solidFill>
          <a:ln w="6350">
            <a:solidFill>
              <a:srgbClr val="1C2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7800" y="1965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2423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DIAGNOSE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28346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Exact failure moments with timestamps, severity ratings, root causes.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0" y="1828800"/>
            <a:ext cx="210312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28803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52359" y="1828800"/>
            <a:ext cx="2103120" cy="4297680"/>
          </a:xfrm>
          <a:prstGeom prst="rect">
            <a:avLst/>
          </a:prstGeom>
          <a:solidFill>
            <a:srgbClr val="151F38"/>
          </a:solidFill>
          <a:ln w="6350">
            <a:solidFill>
              <a:srgbClr val="1C2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19" y="1965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19" y="2423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COACH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19" y="28346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Alternative phrasing for every failure. Backed by winning call examples.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52359" y="1828800"/>
            <a:ext cx="210312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199" y="28803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84080" y="1828800"/>
            <a:ext cx="2103120" cy="4297680"/>
          </a:xfrm>
          <a:prstGeom prst="rect">
            <a:avLst/>
          </a:prstGeom>
          <a:solidFill>
            <a:srgbClr val="151F38"/>
          </a:solidFill>
          <a:ln w="6350">
            <a:solidFill>
              <a:srgbClr val="1C2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21240" y="1965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3B3"/>
                </a:solidFill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2423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BRIEF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28346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Full pre-call briefing doc. Prospect triggers, objections, opening lines.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784080" y="1828800"/>
            <a:ext cx="2103120" cy="50800"/>
          </a:xfrm>
          <a:prstGeom prst="rect">
            <a:avLst/>
          </a:prstGeom>
          <a:solidFill>
            <a:srgbClr val="00B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5806440"/>
            <a:ext cx="10698480" cy="777240"/>
          </a:xfrm>
          <a:prstGeom prst="rect">
            <a:avLst/>
          </a:prstGeom>
          <a:solidFill>
            <a:srgbClr val="151F38"/>
          </a:solidFill>
          <a:ln w="6350">
            <a:solidFill>
              <a:srgbClr val="1C2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89788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00D4FF"/>
                </a:solidFill>
              </a:rPr>
              <a:t>"From upload to full AI report in under 60 seconds — including PDF download and email delivery."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00B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</a:rPr>
              <a:t>THE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AI-Powered Analysis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5 LLM modules + 1 transcription service + 1 RAG retrieval tool — running in sequence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5577840" cy="960120"/>
          </a:xfrm>
          <a:prstGeom prst="rect">
            <a:avLst/>
          </a:prstGeom>
          <a:solidFill>
            <a:srgbClr val="151F38"/>
          </a:solidFill>
          <a:ln w="6350">
            <a:solidFill>
              <a:srgbClr val="1C2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73152" cy="9601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</a:rPr>
              <a:t>#1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5740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Transcription 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44144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Whisper API call — audio to timestamped text. NOT an LLM agent.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965960"/>
            <a:ext cx="5577840" cy="960120"/>
          </a:xfrm>
          <a:prstGeom prst="rect">
            <a:avLst/>
          </a:prstGeom>
          <a:solidFill>
            <a:srgbClr val="151F38"/>
          </a:solidFill>
          <a:ln w="6350">
            <a:solidFill>
              <a:srgbClr val="1C2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1965960"/>
            <a:ext cx="73152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3408" y="21031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B5CF6"/>
                </a:solidFill>
              </a:rPr>
              <a:t>#2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05740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Classifier (LLM)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44144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LLM identifies call type, extracts rep, prospect, company &amp; outcome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063239"/>
            <a:ext cx="5577840" cy="960120"/>
          </a:xfrm>
          <a:prstGeom prst="rect">
            <a:avLst/>
          </a:prstGeom>
          <a:solidFill>
            <a:srgbClr val="151F38"/>
          </a:solidFill>
          <a:ln w="6350">
            <a:solidFill>
              <a:srgbClr val="1C2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063239"/>
            <a:ext cx="73152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200399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#3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154679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Sentiment (LLM)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38727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LLM produces per-minute emotional arc, mood shifts, engagement level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3063239"/>
            <a:ext cx="5577840" cy="960120"/>
          </a:xfrm>
          <a:prstGeom prst="rect">
            <a:avLst/>
          </a:prstGeom>
          <a:solidFill>
            <a:srgbClr val="151F38"/>
          </a:solidFill>
          <a:ln w="6350">
            <a:solidFill>
              <a:srgbClr val="1C2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92240" y="3063239"/>
            <a:ext cx="73152" cy="960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93408" y="3200399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4444"/>
                </a:solidFill>
              </a:rPr>
              <a:t>#4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154679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Diagnostics (LLM)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538727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LLM pinpoints failure moments with timestamps, severity &amp; root cause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160520"/>
            <a:ext cx="5577840" cy="960120"/>
          </a:xfrm>
          <a:prstGeom prst="rect">
            <a:avLst/>
          </a:prstGeom>
          <a:solidFill>
            <a:srgbClr val="151F38"/>
          </a:solidFill>
          <a:ln w="6350">
            <a:solidFill>
              <a:srgbClr val="1C2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160520"/>
            <a:ext cx="73152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429768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</a:rPr>
              <a:t>#5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25196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Sales Coach (LLM)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63600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LLM generates alternative phrasing + why it works + winning examples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4160520"/>
            <a:ext cx="5577840" cy="960120"/>
          </a:xfrm>
          <a:prstGeom prst="rect">
            <a:avLst/>
          </a:prstGeom>
          <a:solidFill>
            <a:srgbClr val="151F38"/>
          </a:solidFill>
          <a:ln w="6350">
            <a:solidFill>
              <a:srgbClr val="1C2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92240" y="4160520"/>
            <a:ext cx="73152" cy="960120"/>
          </a:xfrm>
          <a:prstGeom prst="rect">
            <a:avLst/>
          </a:prstGeom>
          <a:solidFill>
            <a:srgbClr val="00B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93408" y="429768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3B3"/>
                </a:solidFill>
              </a:rPr>
              <a:t>#6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425196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Pre-Call Briefing (LLM)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463600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LLM builds full prep doc: triggers, objections, opening lines, questions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66160" y="5257800"/>
            <a:ext cx="5577840" cy="960120"/>
          </a:xfrm>
          <a:prstGeom prst="rect">
            <a:avLst/>
          </a:prstGeom>
          <a:solidFill>
            <a:srgbClr val="151F38"/>
          </a:solidFill>
          <a:ln w="6350">
            <a:solidFill>
              <a:srgbClr val="1C2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566160" y="5257800"/>
            <a:ext cx="73152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67328" y="53949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B5CF6"/>
                </a:solidFill>
              </a:rPr>
              <a:t>#7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0" y="534924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RAG Knowledge Tool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573328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ChromaDB vector store — embed + semantic search. NOT an LLM agent.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Real-Time Agent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WebSocket streaming · Watch each agent run · Cannot navigate away during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65960"/>
            <a:ext cx="10698480" cy="566928"/>
          </a:xfrm>
          <a:prstGeom prst="rect">
            <a:avLst/>
          </a:prstGeom>
          <a:solidFill>
            <a:srgbClr val="151F38"/>
          </a:solidFill>
          <a:ln w="6350">
            <a:solidFill>
              <a:srgbClr val="1C2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#1 Transcription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0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Converted 28-minute audio to timestamped transcript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1031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0B981"/>
                </a:solidFill>
              </a:rPr>
              <a:t>✓ Complete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587752"/>
            <a:ext cx="10698480" cy="566928"/>
          </a:xfrm>
          <a:prstGeom prst="rect">
            <a:avLst/>
          </a:prstGeom>
          <a:solidFill>
            <a:srgbClr val="151F38"/>
          </a:solidFill>
          <a:ln w="6350">
            <a:solidFill>
              <a:srgbClr val="1C2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587752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6517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#2 Call Classifier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907792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Discovery call · 91% confidence · Dan Reeves @ Acme Corp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7249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0B981"/>
                </a:solidFill>
              </a:rPr>
              <a:t>✓ Complete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209544"/>
            <a:ext cx="10698480" cy="566928"/>
          </a:xfrm>
          <a:prstGeom prst="rect">
            <a:avLst/>
          </a:prstGeom>
          <a:solidFill>
            <a:srgbClr val="151F38"/>
          </a:solidFill>
          <a:ln w="6350">
            <a:solidFill>
              <a:srgbClr val="1C2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209544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2735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#3 Sentiment &amp; Emotion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529584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Engagement: Medium · 2 mood shifts detected at 9m, 21m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34670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0B981"/>
                </a:solidFill>
              </a:rPr>
              <a:t>✓ Complete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831335"/>
            <a:ext cx="10698480" cy="566928"/>
          </a:xfrm>
          <a:prstGeom prst="rect">
            <a:avLst/>
          </a:prstGeom>
          <a:solidFill>
            <a:srgbClr val="151F38"/>
          </a:solidFill>
          <a:ln w="6350">
            <a:solidFill>
              <a:srgbClr val="1C2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831335"/>
            <a:ext cx="73152" cy="5669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3895343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#4 Diagnostics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151375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Analyzing failure points and root causes…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3968495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</a:rPr>
              <a:t>⟳ Running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453128"/>
            <a:ext cx="10698480" cy="566928"/>
          </a:xfrm>
          <a:prstGeom prst="rect">
            <a:avLst/>
          </a:prstGeom>
          <a:solidFill>
            <a:srgbClr val="151F38"/>
          </a:solidFill>
          <a:ln w="6350">
            <a:solidFill>
              <a:srgbClr val="1C2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4453128"/>
            <a:ext cx="73152" cy="566928"/>
          </a:xfrm>
          <a:prstGeom prst="rect">
            <a:avLst/>
          </a:prstGeom>
          <a:solidFill>
            <a:srgbClr val="1C2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51713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#5 Sales Coach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773168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Waiting for diagnostics output…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45902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</a:rPr>
              <a:t>○ Waiting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074920"/>
            <a:ext cx="10698480" cy="566928"/>
          </a:xfrm>
          <a:prstGeom prst="rect">
            <a:avLst/>
          </a:prstGeom>
          <a:solidFill>
            <a:srgbClr val="151F38"/>
          </a:solidFill>
          <a:ln w="6350">
            <a:solidFill>
              <a:srgbClr val="1C2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5074920"/>
            <a:ext cx="73152" cy="566928"/>
          </a:xfrm>
          <a:prstGeom prst="rect">
            <a:avLst/>
          </a:prstGeom>
          <a:solidFill>
            <a:srgbClr val="1C2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1389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#6 Pre-Call Briefing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394960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Waiting for coaching output…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5212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</a:rPr>
              <a:t>○ Waiting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696712"/>
            <a:ext cx="10698480" cy="566928"/>
          </a:xfrm>
          <a:prstGeom prst="rect">
            <a:avLst/>
          </a:prstGeom>
          <a:solidFill>
            <a:srgbClr val="151F38"/>
          </a:solidFill>
          <a:ln w="6350">
            <a:solidFill>
              <a:srgbClr val="1C2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5696712"/>
            <a:ext cx="73152" cy="566928"/>
          </a:xfrm>
          <a:prstGeom prst="rect">
            <a:avLst/>
          </a:prstGeom>
          <a:solidFill>
            <a:srgbClr val="1C2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5760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#7 Knowledge RAG Agent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6016752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Will index transcript after analysis…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0" y="58338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</a:rPr>
              <a:t>○ Waiting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5852160"/>
            <a:ext cx="10698480" cy="228600"/>
          </a:xfrm>
          <a:prstGeom prst="rect">
            <a:avLst/>
          </a:prstGeom>
          <a:solidFill>
            <a:srgbClr val="151F38"/>
          </a:solidFill>
          <a:ln w="6350">
            <a:solidFill>
              <a:srgbClr val="1C2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1520" y="5852160"/>
            <a:ext cx="5349240" cy="228600"/>
          </a:xfrm>
          <a:prstGeom prst="rect">
            <a:avLst/>
          </a:prstGeom>
          <a:solidFill>
            <a:srgbClr val="00B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126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50% complete · 3 of 7 agents done · ~28 seconds remaining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</a:rPr>
              <a:t>RESULTS: FAILURE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Exactly where the deal went wrong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10698480" cy="1463040"/>
          </a:xfrm>
          <a:prstGeom prst="rect">
            <a:avLst/>
          </a:prstGeom>
          <a:solidFill>
            <a:srgbClr val="151F38"/>
          </a:solidFill>
          <a:ln w="6350">
            <a:solidFill>
              <a:srgbClr val="1C2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73152" cy="1463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" y="1828800"/>
            <a:ext cx="1005840" cy="274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0F1A"/>
                </a:solidFill>
              </a:rPr>
              <a:t>CRITICAL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82880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[9:14]  Premature Pricing Disclosure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671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EF4444"/>
                </a:solidFill>
              </a:rPr>
              <a:t>"So our standard tier starts at $2,400/month…"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468880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B981"/>
                </a:solidFill>
              </a:rPr>
              <a:t>Better: Lead with ROI → 'Before we talk numbers, let me show you what this looks like for a company your size. Clients in your space see 30-40% shorter sales cycles…'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264408"/>
            <a:ext cx="10698480" cy="1463040"/>
          </a:xfrm>
          <a:prstGeom prst="rect">
            <a:avLst/>
          </a:prstGeom>
          <a:solidFill>
            <a:srgbClr val="151F38"/>
          </a:solidFill>
          <a:ln w="6350">
            <a:solidFill>
              <a:srgbClr val="1C2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264408"/>
            <a:ext cx="73152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0120" y="3401568"/>
            <a:ext cx="100584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4015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0F1A"/>
                </a:solidFill>
              </a:rPr>
              <a:t>MAJOR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40156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[16:30]  Weak Objection Handling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739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EF4444"/>
                </a:solidFill>
              </a:rPr>
              <a:t>"Yeah, we integrate with most things, usually not a problem."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041648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B981"/>
                </a:solidFill>
              </a:rPr>
              <a:t>Better: Be specific → 'Native Salesforce connector, 4-hour setup, our team handles the first sync. Which CRM are you on?'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837176"/>
            <a:ext cx="10698480" cy="1463040"/>
          </a:xfrm>
          <a:prstGeom prst="rect">
            <a:avLst/>
          </a:prstGeom>
          <a:solidFill>
            <a:srgbClr val="151F38"/>
          </a:solidFill>
          <a:ln w="6350">
            <a:solidFill>
              <a:srgbClr val="1C2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837176"/>
            <a:ext cx="73152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" y="4974336"/>
            <a:ext cx="100584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97433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0F1A"/>
                </a:solidFill>
              </a:rPr>
              <a:t>MAJOR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497433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[22:05]  Premature Close Attempt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31266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EF4444"/>
                </a:solidFill>
              </a:rPr>
              <a:t>"Should we go ahead and get a contract drafted?"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614416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B981"/>
                </a:solidFill>
              </a:rPr>
              <a:t>Better: Offer a lower-commitment step → 'What if we scheduled a 20-min technical call with your ops team first?'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RESULTS: PRE-CALL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Full prep sheet for re-engaging the same prospect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669280" cy="2103120"/>
          </a:xfrm>
          <a:prstGeom prst="rect">
            <a:avLst/>
          </a:prstGeom>
          <a:solidFill>
            <a:srgbClr val="151F38"/>
          </a:solidFill>
          <a:ln w="6350">
            <a:solidFill>
              <a:srgbClr val="1C2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566928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</a:rPr>
              <a:t>RECOMMENDED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Lead with specifics: exact integration steps, named reference customers, concrete ROI model.
Acknowledge the previous call. Avoid vague assurances.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783080"/>
            <a:ext cx="5669280" cy="2103120"/>
          </a:xfrm>
          <a:prstGeom prst="rect">
            <a:avLst/>
          </a:prstGeom>
          <a:solidFill>
            <a:srgbClr val="151F38"/>
          </a:solidFill>
          <a:ln w="6350">
            <a:solidFill>
              <a:srgbClr val="1C2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92240" y="1783080"/>
            <a:ext cx="56692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920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</a:rPr>
              <a:t>OBJECTIONS TO EXPECT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24028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"The price is too high" → Flip to ROI first: "If we cut your deal cycle by 3 weeks, what's that worth per quarter?"
• "We already use another tool" → "We built a migration path for that. 48-hour cutover, no data loss."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23360"/>
            <a:ext cx="5669280" cy="2103120"/>
          </a:xfrm>
          <a:prstGeom prst="rect">
            <a:avLst/>
          </a:prstGeom>
          <a:solidFill>
            <a:srgbClr val="151F38"/>
          </a:solidFill>
          <a:ln w="6350">
            <a:solidFill>
              <a:srgbClr val="1C2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023360"/>
            <a:ext cx="566928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1605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OPENING LINES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805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"Hi [Name], I wanted to acknowledge I jumped too quickly to pricing last time — I'd like to start fresh with the actual business impact."
"Since we spoke, I put together a quick ROI model based on what you shared — 3 minutes to walk through it?"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4023360"/>
            <a:ext cx="5669280" cy="2103120"/>
          </a:xfrm>
          <a:prstGeom prst="rect">
            <a:avLst/>
          </a:prstGeom>
          <a:solidFill>
            <a:srgbClr val="151F38"/>
          </a:solidFill>
          <a:ln w="6350">
            <a:solidFill>
              <a:srgbClr val="1C2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0" y="4023360"/>
            <a:ext cx="566928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1605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QUESTIONS TO 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4805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What does your current process look like? How much manual effort per week?
• If the integration concern was off the table, what would it take for this to be a yes?
• What's driving the timeline on your end?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B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3B3"/>
                </a:solidFill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Production-grade · Single Docker container · One URL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5486400" cy="2194560"/>
          </a:xfrm>
          <a:prstGeom prst="rect">
            <a:avLst/>
          </a:prstGeom>
          <a:solidFill>
            <a:srgbClr val="151F38"/>
          </a:solidFill>
          <a:ln w="6350">
            <a:solidFill>
              <a:srgbClr val="1C2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54864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• React 18 + Vite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19456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• React Router v6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• Tailwind 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6060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• Framer Motion (animations)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• Recharts (sentiment charts)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0175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• React Dropzone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2900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• React Query / TanStack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42900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• Axios · jsPDF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59" y="1737360"/>
            <a:ext cx="5486400" cy="2194560"/>
          </a:xfrm>
          <a:prstGeom prst="rect">
            <a:avLst/>
          </a:prstGeom>
          <a:solidFill>
            <a:srgbClr val="151F38"/>
          </a:solidFill>
          <a:ln w="6350">
            <a:solidFill>
              <a:srgbClr val="1C2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59" y="1737360"/>
            <a:ext cx="548640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39" y="184708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</a:rPr>
              <a:t>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39" y="219456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• Python 3.11 + FastAPI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3999" y="219456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• WebSocket (real-time progress)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39" y="26060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• LangChain (agent orchestration)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3999" y="26060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• OpenAI Whisper (transcription)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39" y="30175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• ChromaDB (RAG vector store)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3999" y="30175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• SQLite + SQLAlchemy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39" y="342900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• ReportLab (PDF generation)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3999" y="342900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• aiosmtplib (async email)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069079"/>
            <a:ext cx="5486400" cy="2194560"/>
          </a:xfrm>
          <a:prstGeom prst="rect">
            <a:avLst/>
          </a:prstGeom>
          <a:solidFill>
            <a:srgbClr val="151F38"/>
          </a:solidFill>
          <a:ln w="6350">
            <a:solidFill>
              <a:srgbClr val="1C2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069079"/>
            <a:ext cx="54864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178807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LLM PROVIDERS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526279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• OpenAI GPT-4o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4526279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• Anthropic Claude 3.5 Sonnet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937759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• Ollama (local Llama 3)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4937759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• Mock Provider (demo mode)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349239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• Model-agnostic abstraction layer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5349239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• sentence-transformers (embeddings)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59" y="4069079"/>
            <a:ext cx="5486400" cy="2194560"/>
          </a:xfrm>
          <a:prstGeom prst="rect">
            <a:avLst/>
          </a:prstGeom>
          <a:solidFill>
            <a:srgbClr val="151F38"/>
          </a:solidFill>
          <a:ln w="6350">
            <a:solidFill>
              <a:srgbClr val="1C2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59" y="4069079"/>
            <a:ext cx="54864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39" y="4178807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DEPLOYMENT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39" y="4526279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• Docker (single container)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3999" y="4526279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• Render.com (one-click deploy)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39" y="4937759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• FastAPI serves React build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3999" y="4937759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• render.yaml config included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39" y="5349239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• Persistent disk for ChromaDB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3999" y="5349239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• docker-compose for local dev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00B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Single Container · Single URL · Full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47120" cy="4663440"/>
          </a:xfrm>
          <a:prstGeom prst="rect">
            <a:avLst/>
          </a:prstGeom>
          <a:solidFill>
            <a:srgbClr val="151F38"/>
          </a:solidFill>
          <a:ln w="19050">
            <a:solidFill>
              <a:srgbClr val="00B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3B3"/>
                </a:solidFill>
              </a:rPr>
              <a:t>Docker Container — Render.com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965960"/>
            <a:ext cx="3017520" cy="2103120"/>
          </a:xfrm>
          <a:prstGeom prst="rect">
            <a:avLst/>
          </a:prstGeom>
          <a:solidFill>
            <a:srgbClr val="0A0F1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React 18 + Vite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77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Landing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2432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Upload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7121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1810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3649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611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Settings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8346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HTTP / 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1546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B3B3"/>
                </a:solidFill>
              </a:rPr>
              <a:t>◄►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0" y="1965960"/>
            <a:ext cx="3017520" cy="2103120"/>
          </a:xfrm>
          <a:prstGeom prst="rect">
            <a:avLst/>
          </a:prstGeom>
          <a:solidFill>
            <a:srgbClr val="0A0F1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0" y="20116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</a:rPr>
              <a:t>FastAPI 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2377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REST API /api/*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2743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WebSocket /ws/*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3108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Agent Orchestrator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3474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PDF · Email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160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B3B3"/>
                </a:solidFill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4663440"/>
            <a:ext cx="3017520" cy="914400"/>
          </a:xfrm>
          <a:prstGeom prst="rect">
            <a:avLst/>
          </a:prstGeom>
          <a:solidFill>
            <a:srgbClr val="0A0F1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7091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0D4FF"/>
                </a:solidFill>
              </a:rPr>
              <a:t>LLM Layer
OpenAI/Claude/Ollama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4663440"/>
            <a:ext cx="3017520" cy="914400"/>
          </a:xfrm>
          <a:prstGeom prst="rect">
            <a:avLst/>
          </a:prstGeom>
          <a:solidFill>
            <a:srgbClr val="0A0F1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47091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0B981"/>
                </a:solidFill>
              </a:rPr>
              <a:t>ChromaDB
RAG Vector Store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0" y="4663440"/>
            <a:ext cx="3017520" cy="914400"/>
          </a:xfrm>
          <a:prstGeom prst="rect">
            <a:avLst/>
          </a:prstGeom>
          <a:solidFill>
            <a:srgbClr val="0A0F1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18120" y="47091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59E0B"/>
                </a:solidFill>
              </a:rPr>
              <a:t>SQLite
Call Metadata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B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3B3"/>
                </a:solidFill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From POC to 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5577840" cy="1920240"/>
          </a:xfrm>
          <a:prstGeom prst="rect">
            <a:avLst/>
          </a:prstGeom>
          <a:solidFill>
            <a:srgbClr val="151F38"/>
          </a:solidFill>
          <a:ln w="6350">
            <a:solidFill>
              <a:srgbClr val="1C2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73152" cy="19202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D4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DEPLOY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317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Set LLM_PROVIDER=mock, run docker-compose up. Full demo at localhost:8000 — no API keys needed.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577840" cy="1920240"/>
          </a:xfrm>
          <a:prstGeom prst="rect">
            <a:avLst/>
          </a:prstGeom>
          <a:solidFill>
            <a:srgbClr val="151F38"/>
          </a:solidFill>
          <a:ln w="6350">
            <a:solidFill>
              <a:srgbClr val="1C2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737360"/>
            <a:ext cx="73152" cy="1920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87452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0B981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CONNECT REAL 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3317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Add OPENAI_API_KEY or ANTHROPIC_API_KEY in .env. Switch LLM_PROVIDER=openai. Start processing real calls.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931920"/>
            <a:ext cx="5577840" cy="1920240"/>
          </a:xfrm>
          <a:prstGeom prst="rect">
            <a:avLst/>
          </a:prstGeom>
          <a:solidFill>
            <a:srgbClr val="151F38"/>
          </a:solidFill>
          <a:ln w="6350">
            <a:solidFill>
              <a:srgbClr val="1C2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931920"/>
            <a:ext cx="73152" cy="19202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06908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B5CF6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TRAIN ON YOUR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5262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Upload Dan's existing call recordings. The Knowledge RAG agent indexes every call — the platform gets smarter with each analysis.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931920"/>
            <a:ext cx="5577840" cy="1920240"/>
          </a:xfrm>
          <a:prstGeom prst="rect">
            <a:avLst/>
          </a:prstGeom>
          <a:solidFill>
            <a:srgbClr val="151F38"/>
          </a:solidFill>
          <a:ln w="6350">
            <a:solidFill>
              <a:srgbClr val="1C2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3931920"/>
            <a:ext cx="73152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06908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9E0B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DEPLOY TO RENDER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45262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Push to GitHub → connect to Render.com → render.yaml handles everything. Single URL, single service, one-click deploy.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5943600"/>
            <a:ext cx="7589520" cy="685800"/>
          </a:xfrm>
          <a:prstGeom prst="rect">
            <a:avLst/>
          </a:prstGeom>
          <a:solidFill>
            <a:srgbClr val="151F38"/>
          </a:solidFill>
          <a:ln w="6350">
            <a:solidFill>
              <a:srgbClr val="1C2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8880" y="6035040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</a:rPr>
              <a:t>SalesIQ is built and ready. Let's show Dan what his calls have been telling him.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00B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